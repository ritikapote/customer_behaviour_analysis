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62ff9ac-b847-6afd-bcd0-c06666243d28}">
          <p14:sldIdLst>
            <p14:sldId id="256"/>
          </p14:sldIdLst>
        </p14:section>
        <p14:section name="Overview" id="{6d90ec05-3c64-57dd-8023-21de34104d60}">
          <p14:sldIdLst>
            <p14:sldId id="257"/>
            <p14:sldId id="258"/>
          </p14:sldIdLst>
        </p14:section>
        <p14:section name="Analysis" id="{f39ac9c2-8021-1031-5d2b-a872381fe130}">
          <p14:sldIdLst>
            <p14:sldId id="259"/>
            <p14:sldId id="260"/>
            <p14:sldId id="261"/>
            <p14:sldId id="262"/>
          </p14:sldIdLst>
        </p14:section>
        <p14:section name="Wrap-up" id="{c93e3979-2a91-6185-efcc-4331fa76afa8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7C5C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0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1737</c:v>
                </c:pt>
                <c:pt idx="1">
                  <c:v>1240</c:v>
                </c:pt>
                <c:pt idx="2">
                  <c:v>599</c:v>
                </c:pt>
                <c:pt idx="3">
                  <c:v>324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10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6336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0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10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6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5CB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E7C7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</c:v>
                </c:pt>
                <c:pt idx="1">
                  <c:v>Subscribers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3B24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7C5C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0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Adult</c:v>
                  </c:pt>
                  <c:pt idx="2">
                    <c:v>Middle-aged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571</c:v>
                </c:pt>
                <c:pt idx="1">
                  <c:v>1103</c:v>
                </c:pt>
                <c:pt idx="2">
                  <c:v>1503</c:v>
                </c:pt>
                <c:pt idx="3">
                  <c:v>723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10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6336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0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Adult</c:v>
                  </c:pt>
                  <c:pt idx="2">
                    <c:v>Middle-aged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34630</c:v>
                </c:pt>
                <c:pt idx="1">
                  <c:v>65842</c:v>
                </c:pt>
                <c:pt idx="2">
                  <c:v>89445</c:v>
                </c:pt>
                <c:pt idx="3">
                  <c:v>43164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10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8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7C5C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0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Free Shipping</c:v>
                  </c:pt>
                  <c:pt idx="1">
                    <c:v>Standard</c:v>
                  </c:pt>
                  <c:pt idx="2">
                    <c:v>Store Pickup</c:v>
                  </c:pt>
                  <c:pt idx="3">
                    <c:v>Next Day Air</c:v>
                  </c:pt>
                  <c:pt idx="4">
                    <c:v>Express</c:v>
                  </c:pt>
                  <c:pt idx="5">
                    <c:v>2-Day Shipping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675</c:v>
                </c:pt>
                <c:pt idx="1">
                  <c:v>654</c:v>
                </c:pt>
                <c:pt idx="2">
                  <c:v>650</c:v>
                </c:pt>
                <c:pt idx="3">
                  <c:v>648</c:v>
                </c:pt>
                <c:pt idx="4">
                  <c:v>646</c:v>
                </c:pt>
                <c:pt idx="5">
                  <c:v>627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10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24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the Customer Behaviour dashboard: who our customers are, what they buy, and where the opportunities are. It covers 3,900 customer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numbers. Customers, average purchase and average rating are the three KPI cards on the dashboard; total revenue ($233,081) is the sum of purchase amounts. The key message: averages barely move across segments, so growth comes from reaching more customers and shifting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tour of how the dashboard is organised: KPIs across the top, breakdown charts in the middle and bottom, and a filter panel down the left so viewers can slice everything interactively.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share and revenue share move in lockstep, because average purchase is about $60 in every category. Outerwear has the lowest average purchase at $57.17 and just 8% of revenue. Note: the original dashboard summed customer IDs for the left chart; this deck uses true customer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27% of customers are subscribers (1,053 of 3,900). Average purchase is $59.49 for subscribers versus $59.87 for non-subscribers, so subscription is not currently lifting basket size. The dashboard does not show repeat behaviour, which is where subscription value would most likely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groups follow the dashboard: Young Adult, Adult, Middle-aged and Senior. Middle-aged is the biggest group by customers and revenue. Young Adults are small but the most valuable per head and the happiest, so they are a good growth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68% male, 32% female. Women average $60.25 per purchase versus $59.54 for men. Shipping is almost perfectly balanced across six options (627 to 675 customers each), so shipping choice is not a differentiator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to remember. The business is evenly priced and evenly rated, so the levers are mix and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next steps. These are hypotheses to test, not conclusions. The fourth is housekeeping: the current dashboard sums customer IDs in some visuals; switching to a distinct count gives correct customer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669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Customer Behaviour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 circle"/>
          <p:cNvSpPr/>
          <p:nvPr/>
        </p:nvSpPr>
        <p:spPr>
          <a:xfrm>
            <a:off x="5943600" y="640080"/>
            <a:ext cx="3383280" cy="33832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" name="Eyebrow"/>
          <p:cNvSpPr txBox="1"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CUSTOMER ANALYTICS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3258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Customer Behaviour Dashboard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154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Insights from 3,900 customer records: purchases, categories and demographics</a:t>
            </a:r>
            <a:endParaRPr lang="en-US" sz="1600" dirty="0"/>
          </a:p>
        </p:txBody>
      </p:sp>
      <p:sp>
        <p:nvSpPr>
          <p:cNvPr id="6" name="Customers circle"/>
          <p:cNvSpPr/>
          <p:nvPr/>
        </p:nvSpPr>
        <p:spPr>
          <a:xfrm>
            <a:off x="6537960" y="109728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ustomers icon" descr="Custo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1440180"/>
            <a:ext cx="685800" cy="685800"/>
          </a:xfrm>
          <a:prstGeom prst="rect">
            <a:avLst/>
          </a:prstGeom>
        </p:spPr>
      </p:pic>
      <p:sp>
        <p:nvSpPr>
          <p:cNvPr id="8" name="Purchases circle"/>
          <p:cNvSpPr/>
          <p:nvPr/>
        </p:nvSpPr>
        <p:spPr>
          <a:xfrm>
            <a:off x="7635240" y="23774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Purchases icon" descr="Purcha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651760"/>
            <a:ext cx="548640" cy="548640"/>
          </a:xfrm>
          <a:prstGeom prst="rect">
            <a:avLst/>
          </a:prstGeom>
        </p:spPr>
      </p:pic>
      <p:sp>
        <p:nvSpPr>
          <p:cNvPr id="10" name="Ratings circle"/>
          <p:cNvSpPr/>
          <p:nvPr/>
        </p:nvSpPr>
        <p:spPr>
          <a:xfrm>
            <a:off x="6355080" y="28346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Ratings icon" descr="Ratin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0632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Dashboard at a glance</a:t>
            </a:r>
            <a:endParaRPr lang="en-US" sz="3600" dirty="0"/>
          </a:p>
        </p:txBody>
      </p:sp>
      <p:sp>
        <p:nvSpPr>
          <p:cNvPr id="3" name="KPI card 1"/>
          <p:cNvSpPr/>
          <p:nvPr/>
        </p:nvSpPr>
        <p:spPr>
          <a:xfrm>
            <a:off x="457200" y="1280160"/>
            <a:ext cx="18745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4" name="Customers 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Customers icon" descr="Custo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6" name="KPI value 1"/>
          <p:cNvSpPr txBox="1"/>
          <p:nvPr/>
        </p:nvSpPr>
        <p:spPr>
          <a:xfrm>
            <a:off x="64008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200" dirty="0"/>
          </a:p>
        </p:txBody>
      </p:sp>
      <p:sp>
        <p:nvSpPr>
          <p:cNvPr id="7" name="KPI label 1"/>
          <p:cNvSpPr txBox="1"/>
          <p:nvPr/>
        </p:nvSpPr>
        <p:spPr>
          <a:xfrm>
            <a:off x="640080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Customers</a:t>
            </a:r>
            <a:endParaRPr lang="en-US" sz="1400" dirty="0"/>
          </a:p>
        </p:txBody>
      </p:sp>
      <p:sp>
        <p:nvSpPr>
          <p:cNvPr id="8" name="KPI card 2"/>
          <p:cNvSpPr/>
          <p:nvPr/>
        </p:nvSpPr>
        <p:spPr>
          <a:xfrm>
            <a:off x="2575590" y="1280160"/>
            <a:ext cx="18745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9" name="Total revenue circle"/>
          <p:cNvSpPr/>
          <p:nvPr/>
        </p:nvSpPr>
        <p:spPr>
          <a:xfrm>
            <a:off x="275847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otal revenue icon" descr="Total reven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200" y="1588770"/>
            <a:ext cx="251460" cy="251460"/>
          </a:xfrm>
          <a:prstGeom prst="rect">
            <a:avLst/>
          </a:prstGeom>
        </p:spPr>
      </p:pic>
      <p:sp>
        <p:nvSpPr>
          <p:cNvPr id="11" name="KPI value 2"/>
          <p:cNvSpPr txBox="1"/>
          <p:nvPr/>
        </p:nvSpPr>
        <p:spPr>
          <a:xfrm>
            <a:off x="275847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$233K</a:t>
            </a:r>
            <a:endParaRPr lang="en-US" sz="3200" dirty="0"/>
          </a:p>
        </p:txBody>
      </p:sp>
      <p:sp>
        <p:nvSpPr>
          <p:cNvPr id="12" name="KPI label 2"/>
          <p:cNvSpPr txBox="1"/>
          <p:nvPr/>
        </p:nvSpPr>
        <p:spPr>
          <a:xfrm>
            <a:off x="2758470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13" name="KPI card 3"/>
          <p:cNvSpPr/>
          <p:nvPr/>
        </p:nvSpPr>
        <p:spPr>
          <a:xfrm>
            <a:off x="4693981" y="1280160"/>
            <a:ext cx="18745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4" name="Avg purchase amount circle"/>
          <p:cNvSpPr/>
          <p:nvPr/>
        </p:nvSpPr>
        <p:spPr>
          <a:xfrm>
            <a:off x="4876861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Avg purchase amount icon" descr="Avg purchase amou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591" y="1588770"/>
            <a:ext cx="251460" cy="251460"/>
          </a:xfrm>
          <a:prstGeom prst="rect">
            <a:avLst/>
          </a:prstGeom>
        </p:spPr>
      </p:pic>
      <p:sp>
        <p:nvSpPr>
          <p:cNvPr id="16" name="KPI value 3"/>
          <p:cNvSpPr txBox="1"/>
          <p:nvPr/>
        </p:nvSpPr>
        <p:spPr>
          <a:xfrm>
            <a:off x="4876861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200" dirty="0"/>
          </a:p>
        </p:txBody>
      </p:sp>
      <p:sp>
        <p:nvSpPr>
          <p:cNvPr id="17" name="KPI label 3"/>
          <p:cNvSpPr txBox="1"/>
          <p:nvPr/>
        </p:nvSpPr>
        <p:spPr>
          <a:xfrm>
            <a:off x="4876861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Avg purchase amount</a:t>
            </a:r>
            <a:endParaRPr lang="en-US" sz="1400" dirty="0"/>
          </a:p>
        </p:txBody>
      </p:sp>
      <p:sp>
        <p:nvSpPr>
          <p:cNvPr id="18" name="KPI card 4"/>
          <p:cNvSpPr/>
          <p:nvPr/>
        </p:nvSpPr>
        <p:spPr>
          <a:xfrm>
            <a:off x="6812371" y="1280160"/>
            <a:ext cx="18745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9" name="Avg review rating circle"/>
          <p:cNvSpPr/>
          <p:nvPr/>
        </p:nvSpPr>
        <p:spPr>
          <a:xfrm>
            <a:off x="6995251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vg review rating icon" descr="Avg review ra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981" y="1588770"/>
            <a:ext cx="251460" cy="251460"/>
          </a:xfrm>
          <a:prstGeom prst="rect">
            <a:avLst/>
          </a:prstGeom>
        </p:spPr>
      </p:pic>
      <p:sp>
        <p:nvSpPr>
          <p:cNvPr id="21" name="KPI value 4"/>
          <p:cNvSpPr txBox="1"/>
          <p:nvPr/>
        </p:nvSpPr>
        <p:spPr>
          <a:xfrm>
            <a:off x="6995251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3200" dirty="0"/>
          </a:p>
        </p:txBody>
      </p:sp>
      <p:sp>
        <p:nvSpPr>
          <p:cNvPr id="22" name="KPI label 4"/>
          <p:cNvSpPr txBox="1"/>
          <p:nvPr/>
        </p:nvSpPr>
        <p:spPr>
          <a:xfrm>
            <a:off x="6995251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Avg review rating</a:t>
            </a:r>
            <a:endParaRPr lang="en-US" sz="1400" dirty="0"/>
          </a:p>
        </p:txBody>
      </p:sp>
      <p:sp>
        <p:nvSpPr>
          <p:cNvPr id="23" name="Big picture panel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4" name="Panel eyebrow"/>
          <p:cNvSpPr txBox="1"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THE BIG PICTURE</a:t>
            </a:r>
            <a:endParaRPr lang="en-US" sz="1400" dirty="0"/>
          </a:p>
        </p:txBody>
      </p:sp>
      <p:sp>
        <p:nvSpPr>
          <p:cNvPr id="25" name="Panel text"/>
          <p:cNvSpPr txBox="1"/>
          <p:nvPr/>
        </p:nvSpPr>
        <p:spPr>
          <a:xfrm>
            <a:off x="731520" y="3703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Spend and satisfaction are remarkably consistent: average purchases sit near $60 and ratings near 3.75 whether we slice by category, age, gender or subscription. Growth will come from volume and mix, not price.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dashboard covers</a:t>
            </a:r>
            <a:endParaRPr lang="en-US" sz="3600" dirty="0"/>
          </a:p>
        </p:txBody>
      </p:sp>
      <p:sp>
        <p:nvSpPr>
          <p:cNvPr id="3" name="Data panel"/>
          <p:cNvSpPr/>
          <p:nvPr/>
        </p:nvSpPr>
        <p:spPr>
          <a:xfrm>
            <a:off x="457200" y="1280160"/>
            <a:ext cx="3017520" cy="329184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4" name="Data eyebrow"/>
          <p:cNvSpPr txBox="1"/>
          <p:nvPr/>
        </p:nvSpPr>
        <p:spPr>
          <a:xfrm>
            <a:off x="73152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THE DATA</a:t>
            </a:r>
            <a:endParaRPr lang="en-US" sz="1400" dirty="0"/>
          </a:p>
        </p:txBody>
      </p:sp>
      <p:sp>
        <p:nvSpPr>
          <p:cNvPr id="5" name="Data stat 1"/>
          <p:cNvSpPr txBox="1"/>
          <p:nvPr/>
        </p:nvSpPr>
        <p:spPr>
          <a:xfrm>
            <a:off x="731520" y="1810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600" dirty="0"/>
          </a:p>
        </p:txBody>
      </p:sp>
      <p:sp>
        <p:nvSpPr>
          <p:cNvPr id="6" name="Data label 1"/>
          <p:cNvSpPr txBox="1"/>
          <p:nvPr/>
        </p:nvSpPr>
        <p:spPr>
          <a:xfrm>
            <a:off x="73152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customer records</a:t>
            </a:r>
            <a:endParaRPr lang="en-US" sz="1400" dirty="0"/>
          </a:p>
        </p:txBody>
      </p:sp>
      <p:sp>
        <p:nvSpPr>
          <p:cNvPr id="7" name="Data stat 2"/>
          <p:cNvSpPr txBox="1"/>
          <p:nvPr/>
        </p:nvSpPr>
        <p:spPr>
          <a:xfrm>
            <a:off x="7315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8" name="Data label 2"/>
          <p:cNvSpPr txBox="1"/>
          <p:nvPr/>
        </p:nvSpPr>
        <p:spPr>
          <a:xfrm>
            <a:off x="7315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fields per customer</a:t>
            </a:r>
            <a:endParaRPr lang="en-US" sz="1400" dirty="0"/>
          </a:p>
        </p:txBody>
      </p:sp>
      <p:sp>
        <p:nvSpPr>
          <p:cNvPr id="9" name="Data stat 3"/>
          <p:cNvSpPr txBox="1"/>
          <p:nvPr/>
        </p:nvSpPr>
        <p:spPr>
          <a:xfrm>
            <a:off x="731520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18–70</a:t>
            </a:r>
            <a:endParaRPr lang="en-US" sz="2600" dirty="0"/>
          </a:p>
        </p:txBody>
      </p:sp>
      <p:sp>
        <p:nvSpPr>
          <p:cNvPr id="10" name="Data label 3"/>
          <p:cNvSpPr txBox="1"/>
          <p:nvPr/>
        </p:nvSpPr>
        <p:spPr>
          <a:xfrm>
            <a:off x="73152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age range</a:t>
            </a:r>
            <a:endParaRPr lang="en-US" sz="1400" dirty="0"/>
          </a:p>
        </p:txBody>
      </p:sp>
      <p:sp>
        <p:nvSpPr>
          <p:cNvPr id="11" name="Data stat 4"/>
          <p:cNvSpPr txBox="1"/>
          <p:nvPr/>
        </p:nvSpPr>
        <p:spPr>
          <a:xfrm>
            <a:off x="73152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600" dirty="0"/>
          </a:p>
        </p:txBody>
      </p:sp>
      <p:sp>
        <p:nvSpPr>
          <p:cNvPr id="12" name="Data label 4"/>
          <p:cNvSpPr txBox="1"/>
          <p:nvPr/>
        </p:nvSpPr>
        <p:spPr>
          <a:xfrm>
            <a:off x="731520" y="4151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live source database</a:t>
            </a:r>
            <a:endParaRPr lang="en-US" sz="1400" dirty="0"/>
          </a:p>
        </p:txBody>
      </p:sp>
      <p:sp>
        <p:nvSpPr>
          <p:cNvPr id="13" name="Feature card 1"/>
          <p:cNvSpPr/>
          <p:nvPr/>
        </p:nvSpPr>
        <p:spPr>
          <a:xfrm>
            <a:off x="3749040" y="1280160"/>
            <a:ext cx="49377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4" name="Headline KPIs circle"/>
          <p:cNvSpPr/>
          <p:nvPr/>
        </p:nvSpPr>
        <p:spPr>
          <a:xfrm>
            <a:off x="39776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Headline KPIs icon" descr="Headline KP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3370" y="1634490"/>
            <a:ext cx="251460" cy="251460"/>
          </a:xfrm>
          <a:prstGeom prst="rect">
            <a:avLst/>
          </a:prstGeom>
        </p:spPr>
      </p:pic>
      <p:sp>
        <p:nvSpPr>
          <p:cNvPr id="16" name="Feature title 1"/>
          <p:cNvSpPr txBox="1"/>
          <p:nvPr/>
        </p:nvSpPr>
        <p:spPr>
          <a:xfrm>
            <a:off x="4663440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KPIs</a:t>
            </a:r>
            <a:endParaRPr lang="en-US" sz="1600" dirty="0"/>
          </a:p>
        </p:txBody>
      </p:sp>
      <p:sp>
        <p:nvSpPr>
          <p:cNvPr id="17" name="Feature desc 1"/>
          <p:cNvSpPr txBox="1"/>
          <p:nvPr/>
        </p:nvSpPr>
        <p:spPr>
          <a:xfrm>
            <a:off x="4663440" y="1664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 count, average purchase amount and average review rating at the top.</a:t>
            </a:r>
            <a:endParaRPr lang="en-US" sz="1400" dirty="0"/>
          </a:p>
        </p:txBody>
      </p:sp>
      <p:sp>
        <p:nvSpPr>
          <p:cNvPr id="18" name="Feature card 2"/>
          <p:cNvSpPr/>
          <p:nvPr/>
        </p:nvSpPr>
        <p:spPr>
          <a:xfrm>
            <a:off x="3749040" y="2423160"/>
            <a:ext cx="49377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9" name="Breakdown charts circle"/>
          <p:cNvSpPr/>
          <p:nvPr/>
        </p:nvSpPr>
        <p:spPr>
          <a:xfrm>
            <a:off x="3977640" y="2651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Breakdown charts icon" descr="Breakdown cha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370" y="2777490"/>
            <a:ext cx="251460" cy="251460"/>
          </a:xfrm>
          <a:prstGeom prst="rect">
            <a:avLst/>
          </a:prstGeom>
        </p:spPr>
      </p:pic>
      <p:sp>
        <p:nvSpPr>
          <p:cNvPr id="21" name="Feature title 2"/>
          <p:cNvSpPr txBox="1"/>
          <p:nvPr/>
        </p:nvSpPr>
        <p:spPr>
          <a:xfrm>
            <a:off x="4663440" y="2532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Breakdown charts</a:t>
            </a:r>
            <a:endParaRPr lang="en-US" sz="1600" dirty="0"/>
          </a:p>
        </p:txBody>
      </p:sp>
      <p:sp>
        <p:nvSpPr>
          <p:cNvPr id="22" name="Feature desc 2"/>
          <p:cNvSpPr txBox="1"/>
          <p:nvPr/>
        </p:nvSpPr>
        <p:spPr>
          <a:xfrm>
            <a:off x="4663440" y="2807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Subscription mix, plus customers and revenue by category and by age group.</a:t>
            </a:r>
            <a:endParaRPr lang="en-US" sz="1400" dirty="0"/>
          </a:p>
        </p:txBody>
      </p:sp>
      <p:sp>
        <p:nvSpPr>
          <p:cNvPr id="23" name="Feature card 3"/>
          <p:cNvSpPr/>
          <p:nvPr/>
        </p:nvSpPr>
        <p:spPr>
          <a:xfrm>
            <a:off x="3749040" y="3566160"/>
            <a:ext cx="49377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24" name="Interactive filters circle"/>
          <p:cNvSpPr/>
          <p:nvPr/>
        </p:nvSpPr>
        <p:spPr>
          <a:xfrm>
            <a:off x="3977640" y="3794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nteractive filters icon" descr="Interactive filt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70" y="3920490"/>
            <a:ext cx="251460" cy="251460"/>
          </a:xfrm>
          <a:prstGeom prst="rect">
            <a:avLst/>
          </a:prstGeom>
        </p:spPr>
      </p:pic>
      <p:sp>
        <p:nvSpPr>
          <p:cNvPr id="26" name="Feature title 3"/>
          <p:cNvSpPr txBox="1"/>
          <p:nvPr/>
        </p:nvSpPr>
        <p:spPr>
          <a:xfrm>
            <a:off x="466344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Interactive filters</a:t>
            </a:r>
            <a:endParaRPr lang="en-US" sz="1600" dirty="0"/>
          </a:p>
        </p:txBody>
      </p:sp>
      <p:sp>
        <p:nvSpPr>
          <p:cNvPr id="27" name="Feature desc 3"/>
          <p:cNvSpPr txBox="1"/>
          <p:nvPr/>
        </p:nvSpPr>
        <p:spPr>
          <a:xfrm>
            <a:off x="4663440" y="3950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Slice by subscription status, gender, category and shipping type.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Category performance</a:t>
            </a:r>
            <a:endParaRPr lang="en-US" sz="3600" dirty="0"/>
          </a:p>
        </p:txBody>
      </p:sp>
      <p:sp>
        <p:nvSpPr>
          <p:cNvPr id="3" name="Customers by category card"/>
          <p:cNvSpPr/>
          <p:nvPr/>
        </p:nvSpPr>
        <p:spPr>
          <a:xfrm>
            <a:off x="457200" y="128016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4" name="Chart heading 1"/>
          <p:cNvSpPr txBox="1"/>
          <p:nvPr/>
        </p:nvSpPr>
        <p:spPr>
          <a:xfrm>
            <a:off x="68580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by category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evenue by category card"/>
          <p:cNvSpPr/>
          <p:nvPr/>
        </p:nvSpPr>
        <p:spPr>
          <a:xfrm>
            <a:off x="4663440" y="128016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7" name="Chart heading 2"/>
          <p:cNvSpPr txBox="1"/>
          <p:nvPr/>
        </p:nvSpPr>
        <p:spPr>
          <a:xfrm>
            <a:off x="489204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by category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69164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Insight strip"/>
          <p:cNvSpPr/>
          <p:nvPr/>
        </p:nvSpPr>
        <p:spPr>
          <a:xfrm>
            <a:off x="457200" y="3977640"/>
            <a:ext cx="822960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0" name="Insight text"/>
          <p:cNvSpPr txBox="1"/>
          <p:nvPr/>
        </p:nvSpPr>
        <p:spPr>
          <a:xfrm>
            <a:off x="685800" y="3977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Clothing leads with 44.5% of customers and 44.7% of revenue. Clothing and Accessories together bring in 76.6% of all revenue.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subscription gap</a:t>
            </a:r>
            <a:endParaRPr lang="en-US" sz="3600" dirty="0"/>
          </a:p>
        </p:txBody>
      </p:sp>
      <p:sp>
        <p:nvSpPr>
          <p:cNvPr id="3" name="Donut card"/>
          <p:cNvSpPr/>
          <p:nvPr/>
        </p:nvSpPr>
        <p:spPr>
          <a:xfrm>
            <a:off x="457200" y="128016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4" name="Donut heading"/>
          <p:cNvSpPr txBox="1"/>
          <p:nvPr/>
        </p:nvSpPr>
        <p:spPr>
          <a:xfrm>
            <a:off x="68580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by subscription status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38404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at card 1"/>
          <p:cNvSpPr/>
          <p:nvPr/>
        </p:nvSpPr>
        <p:spPr>
          <a:xfrm>
            <a:off x="4663440" y="128016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7" name="Stat value 1"/>
          <p:cNvSpPr txBox="1"/>
          <p:nvPr/>
        </p:nvSpPr>
        <p:spPr>
          <a:xfrm>
            <a:off x="484632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600" dirty="0"/>
          </a:p>
        </p:txBody>
      </p:sp>
      <p:sp>
        <p:nvSpPr>
          <p:cNvPr id="8" name="Stat label 1"/>
          <p:cNvSpPr txBox="1"/>
          <p:nvPr/>
        </p:nvSpPr>
        <p:spPr>
          <a:xfrm>
            <a:off x="48463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Non-subscribers</a:t>
            </a:r>
            <a:endParaRPr lang="en-US" sz="1400" dirty="0"/>
          </a:p>
        </p:txBody>
      </p:sp>
      <p:sp>
        <p:nvSpPr>
          <p:cNvPr id="9" name="Stat sub 1"/>
          <p:cNvSpPr txBox="1"/>
          <p:nvPr/>
        </p:nvSpPr>
        <p:spPr>
          <a:xfrm>
            <a:off x="48463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2,847 customers</a:t>
            </a:r>
            <a:endParaRPr lang="en-US" sz="1400" dirty="0"/>
          </a:p>
        </p:txBody>
      </p:sp>
      <p:sp>
        <p:nvSpPr>
          <p:cNvPr id="10" name="Stat card 2"/>
          <p:cNvSpPr/>
          <p:nvPr/>
        </p:nvSpPr>
        <p:spPr>
          <a:xfrm>
            <a:off x="6766560" y="128016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1" name="Stat value 2"/>
          <p:cNvSpPr txBox="1"/>
          <p:nvPr/>
        </p:nvSpPr>
        <p:spPr>
          <a:xfrm>
            <a:off x="694944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600" dirty="0"/>
          </a:p>
        </p:txBody>
      </p:sp>
      <p:sp>
        <p:nvSpPr>
          <p:cNvPr id="12" name="Stat label 2"/>
          <p:cNvSpPr txBox="1"/>
          <p:nvPr/>
        </p:nvSpPr>
        <p:spPr>
          <a:xfrm>
            <a:off x="69494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Subscribers</a:t>
            </a:r>
            <a:endParaRPr lang="en-US" sz="1400" dirty="0"/>
          </a:p>
        </p:txBody>
      </p:sp>
      <p:sp>
        <p:nvSpPr>
          <p:cNvPr id="13" name="Stat sub 2"/>
          <p:cNvSpPr txBox="1"/>
          <p:nvPr/>
        </p:nvSpPr>
        <p:spPr>
          <a:xfrm>
            <a:off x="694944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1,053 customers</a:t>
            </a:r>
            <a:endParaRPr lang="en-US" sz="1400" dirty="0"/>
          </a:p>
        </p:txBody>
      </p:sp>
      <p:sp>
        <p:nvSpPr>
          <p:cNvPr id="14" name="Avg purchase card"/>
          <p:cNvSpPr/>
          <p:nvPr/>
        </p:nvSpPr>
        <p:spPr>
          <a:xfrm>
            <a:off x="4663440" y="260604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5" name="Avg purchase compare"/>
          <p:cNvSpPr txBox="1"/>
          <p:nvPr/>
        </p:nvSpPr>
        <p:spPr>
          <a:xfrm>
            <a:off x="484632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$59.87  vs  $59.49</a:t>
            </a:r>
            <a:endParaRPr lang="en-US" sz="3000" dirty="0"/>
          </a:p>
        </p:txBody>
      </p:sp>
      <p:sp>
        <p:nvSpPr>
          <p:cNvPr id="16" name="Avg purchase caption"/>
          <p:cNvSpPr txBox="1"/>
          <p:nvPr/>
        </p:nvSpPr>
        <p:spPr>
          <a:xfrm>
            <a:off x="484632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Average purchase: non-subscribers vs subscribers</a:t>
            </a:r>
            <a:endParaRPr lang="en-US" sz="1400" dirty="0"/>
          </a:p>
        </p:txBody>
      </p:sp>
      <p:sp>
        <p:nvSpPr>
          <p:cNvPr id="17" name="Insight strip"/>
          <p:cNvSpPr/>
          <p:nvPr/>
        </p:nvSpPr>
        <p:spPr>
          <a:xfrm>
            <a:off x="457200" y="3977640"/>
            <a:ext cx="822960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8" name="Insight text"/>
          <p:cNvSpPr txBox="1"/>
          <p:nvPr/>
        </p:nvSpPr>
        <p:spPr>
          <a:xfrm>
            <a:off x="685800" y="3977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Subscribers spend about the same per purchase as non-subscribers, so the upside lies in converting more of the 73% who have not joined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Age group breakdown</a:t>
            </a:r>
            <a:endParaRPr lang="en-US" sz="3600" dirty="0"/>
          </a:p>
        </p:txBody>
      </p:sp>
      <p:sp>
        <p:nvSpPr>
          <p:cNvPr id="3" name="Customers by age card"/>
          <p:cNvSpPr/>
          <p:nvPr/>
        </p:nvSpPr>
        <p:spPr>
          <a:xfrm>
            <a:off x="457200" y="128016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4" name="Chart heading 3"/>
          <p:cNvSpPr txBox="1"/>
          <p:nvPr/>
        </p:nvSpPr>
        <p:spPr>
          <a:xfrm>
            <a:off x="68580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by age group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evenue by age card"/>
          <p:cNvSpPr/>
          <p:nvPr/>
        </p:nvSpPr>
        <p:spPr>
          <a:xfrm>
            <a:off x="4663440" y="128016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7" name="Chart heading 4"/>
          <p:cNvSpPr txBox="1"/>
          <p:nvPr/>
        </p:nvSpPr>
        <p:spPr>
          <a:xfrm>
            <a:off x="489204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by age group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69164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Insight strip"/>
          <p:cNvSpPr/>
          <p:nvPr/>
        </p:nvSpPr>
        <p:spPr>
          <a:xfrm>
            <a:off x="457200" y="3977640"/>
            <a:ext cx="822960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0" name="Insight text"/>
          <p:cNvSpPr txBox="1"/>
          <p:nvPr/>
        </p:nvSpPr>
        <p:spPr>
          <a:xfrm>
            <a:off x="685800" y="3977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Middle-aged customers are the core, driving 38.5% of revenue. Young Adults are the smallest group (14.6%) yet have the highest average purchase ($60.65) and rating (3.82).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Gender and shipping mix</a:t>
            </a:r>
            <a:endParaRPr lang="en-US" sz="3600" dirty="0"/>
          </a:p>
        </p:txBody>
      </p:sp>
      <p:sp>
        <p:nvSpPr>
          <p:cNvPr id="3" name="Gender card"/>
          <p:cNvSpPr/>
          <p:nvPr/>
        </p:nvSpPr>
        <p:spPr>
          <a:xfrm>
            <a:off x="457200" y="128016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4" name="Gender heading"/>
          <p:cNvSpPr txBox="1"/>
          <p:nvPr/>
        </p:nvSpPr>
        <p:spPr>
          <a:xfrm>
            <a:off x="68580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by gender</a:t>
            </a:r>
            <a:endParaRPr lang="en-US" sz="1400" dirty="0"/>
          </a:p>
        </p:txBody>
      </p:sp>
      <p:sp>
        <p:nvSpPr>
          <p:cNvPr id="5" name="Male share bar"/>
          <p:cNvSpPr/>
          <p:nvPr/>
        </p:nvSpPr>
        <p:spPr>
          <a:xfrm>
            <a:off x="685800" y="1783080"/>
            <a:ext cx="2424989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</p:sp>
      <p:sp>
        <p:nvSpPr>
          <p:cNvPr id="6" name="Female share bar"/>
          <p:cNvSpPr/>
          <p:nvPr/>
        </p:nvSpPr>
        <p:spPr>
          <a:xfrm>
            <a:off x="3154680" y="1783080"/>
            <a:ext cx="109728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7" name="Gender value 1"/>
          <p:cNvSpPr txBox="1"/>
          <p:nvPr/>
        </p:nvSpPr>
        <p:spPr>
          <a:xfrm>
            <a:off x="68580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200" dirty="0"/>
          </a:p>
        </p:txBody>
      </p:sp>
      <p:sp>
        <p:nvSpPr>
          <p:cNvPr id="8" name="Gender detail 1"/>
          <p:cNvSpPr txBox="1"/>
          <p:nvPr/>
        </p:nvSpPr>
        <p:spPr>
          <a:xfrm>
            <a:off x="685800" y="2834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2,652 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$59.54 avg spend</a:t>
            </a:r>
            <a:endParaRPr lang="en-US" sz="1400" dirty="0"/>
          </a:p>
        </p:txBody>
      </p:sp>
      <p:sp>
        <p:nvSpPr>
          <p:cNvPr id="9" name="Gender value 2"/>
          <p:cNvSpPr txBox="1"/>
          <p:nvPr/>
        </p:nvSpPr>
        <p:spPr>
          <a:xfrm>
            <a:off x="26060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200" dirty="0"/>
          </a:p>
        </p:txBody>
      </p:sp>
      <p:sp>
        <p:nvSpPr>
          <p:cNvPr id="10" name="Gender detail 2"/>
          <p:cNvSpPr txBox="1"/>
          <p:nvPr/>
        </p:nvSpPr>
        <p:spPr>
          <a:xfrm>
            <a:off x="2606040" y="2834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Female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1,248 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$60.25 avg spend</a:t>
            </a:r>
            <a:endParaRPr lang="en-US" sz="1400" dirty="0"/>
          </a:p>
        </p:txBody>
      </p:sp>
      <p:sp>
        <p:nvSpPr>
          <p:cNvPr id="11" name="Shipping card"/>
          <p:cNvSpPr/>
          <p:nvPr/>
        </p:nvSpPr>
        <p:spPr>
          <a:xfrm>
            <a:off x="4663440" y="128016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2" name="Shipping heading"/>
          <p:cNvSpPr txBox="1"/>
          <p:nvPr/>
        </p:nvSpPr>
        <p:spPr>
          <a:xfrm>
            <a:off x="489204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by shipping type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54880" y="1691640"/>
          <a:ext cx="38404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Insight strip"/>
          <p:cNvSpPr/>
          <p:nvPr/>
        </p:nvSpPr>
        <p:spPr>
          <a:xfrm>
            <a:off x="457200" y="3977640"/>
            <a:ext cx="822960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5" name="Insight text"/>
          <p:cNvSpPr txBox="1"/>
          <p:nvPr/>
        </p:nvSpPr>
        <p:spPr>
          <a:xfrm>
            <a:off x="685800" y="3977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Two-thirds of customers are male, though women spend slightly more per purchase. Shipping preferences are evenly split, with no single option dominating.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Takeaway card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4" name="Two categories dominate circle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wo categories dominate icon" descr="Two categories domin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74320" cy="274320"/>
          </a:xfrm>
          <a:prstGeom prst="rect">
            <a:avLst/>
          </a:prstGeom>
        </p:spPr>
      </p:pic>
      <p:sp>
        <p:nvSpPr>
          <p:cNvPr id="6" name="Takeaway title 1"/>
          <p:cNvSpPr txBox="1"/>
          <p:nvPr/>
        </p:nvSpPr>
        <p:spPr>
          <a:xfrm>
            <a:off x="14630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categories dominate</a:t>
            </a:r>
            <a:endParaRPr lang="en-US" sz="1600" dirty="0"/>
          </a:p>
        </p:txBody>
      </p:sp>
      <p:sp>
        <p:nvSpPr>
          <p:cNvPr id="7" name="Takeaway desc 1"/>
          <p:cNvSpPr txBox="1"/>
          <p:nvPr/>
        </p:nvSpPr>
        <p:spPr>
          <a:xfrm>
            <a:off x="1463040" y="18288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Clothing and Accessories generate 76.6% of revenue; Outerwear adds about 8%.</a:t>
            </a:r>
            <a:endParaRPr lang="en-US" sz="1400" dirty="0"/>
          </a:p>
        </p:txBody>
      </p:sp>
      <p:sp>
        <p:nvSpPr>
          <p:cNvPr id="8" name="Takeaway card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9" name="Subscriptions under-used circle"/>
          <p:cNvSpPr/>
          <p:nvPr/>
        </p:nvSpPr>
        <p:spPr>
          <a:xfrm>
            <a:off x="489204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Subscriptions under-used icon" descr="Subscriptions under-us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274320" cy="274320"/>
          </a:xfrm>
          <a:prstGeom prst="rect">
            <a:avLst/>
          </a:prstGeom>
        </p:spPr>
      </p:pic>
      <p:sp>
        <p:nvSpPr>
          <p:cNvPr id="11" name="Takeaway title 2"/>
          <p:cNvSpPr txBox="1"/>
          <p:nvPr/>
        </p:nvSpPr>
        <p:spPr>
          <a:xfrm>
            <a:off x="566928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Subscriptions under-used</a:t>
            </a:r>
            <a:endParaRPr lang="en-US" sz="1600" dirty="0"/>
          </a:p>
        </p:txBody>
      </p:sp>
      <p:sp>
        <p:nvSpPr>
          <p:cNvPr id="12" name="Takeaway desc 2"/>
          <p:cNvSpPr txBox="1"/>
          <p:nvPr/>
        </p:nvSpPr>
        <p:spPr>
          <a:xfrm>
            <a:off x="5669280" y="18288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Only 27% of customers subscribe, and their spend per purchase matches non-subscribers.</a:t>
            </a:r>
            <a:endParaRPr lang="en-US" sz="1400" dirty="0"/>
          </a:p>
        </p:txBody>
      </p:sp>
      <p:sp>
        <p:nvSpPr>
          <p:cNvPr id="13" name="Takeaway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4" name="Middle-aged core circle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Middle-aged core icon" descr="Middle-aged c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274320" cy="274320"/>
          </a:xfrm>
          <a:prstGeom prst="rect">
            <a:avLst/>
          </a:prstGeom>
        </p:spPr>
      </p:pic>
      <p:sp>
        <p:nvSpPr>
          <p:cNvPr id="16" name="Takeaway title 3"/>
          <p:cNvSpPr txBox="1"/>
          <p:nvPr/>
        </p:nvSpPr>
        <p:spPr>
          <a:xfrm>
            <a:off x="146304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Middle-aged core</a:t>
            </a:r>
            <a:endParaRPr lang="en-US" sz="1600" dirty="0"/>
          </a:p>
        </p:txBody>
      </p:sp>
      <p:sp>
        <p:nvSpPr>
          <p:cNvPr id="17" name="Takeaway desc 3"/>
          <p:cNvSpPr txBox="1"/>
          <p:nvPr/>
        </p:nvSpPr>
        <p:spPr>
          <a:xfrm>
            <a:off x="1463040" y="35204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38.5% of revenue comes from this group; Young Adults rate highest at 3.82.</a:t>
            </a:r>
            <a:endParaRPr lang="en-US" sz="1400" dirty="0"/>
          </a:p>
        </p:txBody>
      </p:sp>
      <p:sp>
        <p:nvSpPr>
          <p:cNvPr id="18" name="Takeaway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9" name="Male-skewed base circle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Male-skewed base icon" descr="Male-skewed 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83280"/>
            <a:ext cx="274320" cy="274320"/>
          </a:xfrm>
          <a:prstGeom prst="rect">
            <a:avLst/>
          </a:prstGeom>
        </p:spPr>
      </p:pic>
      <p:sp>
        <p:nvSpPr>
          <p:cNvPr id="21" name="Takeaway title 4"/>
          <p:cNvSpPr txBox="1"/>
          <p:nvPr/>
        </p:nvSpPr>
        <p:spPr>
          <a:xfrm>
            <a:off x="56692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Male-skewed base</a:t>
            </a:r>
            <a:endParaRPr lang="en-US" sz="1600" dirty="0"/>
          </a:p>
        </p:txBody>
      </p:sp>
      <p:sp>
        <p:nvSpPr>
          <p:cNvPr id="22" name="Takeaway desc 4"/>
          <p:cNvSpPr txBox="1"/>
          <p:nvPr/>
        </p:nvSpPr>
        <p:spPr>
          <a:xfrm>
            <a:off x="5669280" y="35204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68% of customers are male; the average purchase for women is slightly higher at $60.25.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Recommendations</a:t>
            </a:r>
            <a:endParaRPr lang="en-US" sz="3600" dirty="0"/>
          </a:p>
        </p:txBody>
      </p:sp>
      <p:sp>
        <p:nvSpPr>
          <p:cNvPr id="3" name="Recommendation card 1"/>
          <p:cNvSpPr/>
          <p:nvPr/>
        </p:nvSpPr>
        <p:spPr>
          <a:xfrm>
            <a:off x="457200" y="128016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4" name="Step circl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Rec title 1"/>
          <p:cNvSpPr txBox="1"/>
          <p:nvPr/>
        </p:nvSpPr>
        <p:spPr>
          <a:xfrm>
            <a:off x="64008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Grow subscriptions</a:t>
            </a:r>
            <a:endParaRPr lang="en-US" sz="1600" dirty="0"/>
          </a:p>
        </p:txBody>
      </p:sp>
      <p:sp>
        <p:nvSpPr>
          <p:cNvPr id="7" name="Rec desc 1"/>
          <p:cNvSpPr txBox="1"/>
          <p:nvPr/>
        </p:nvSpPr>
        <p:spPr>
          <a:xfrm>
            <a:off x="640080" y="288036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Target the 73% non-subscribers with trial offers and member perks.</a:t>
            </a:r>
            <a:endParaRPr lang="en-US" sz="1400" dirty="0"/>
          </a:p>
        </p:txBody>
      </p:sp>
      <p:sp>
        <p:nvSpPr>
          <p:cNvPr id="8" name="Recommendation card 2"/>
          <p:cNvSpPr/>
          <p:nvPr/>
        </p:nvSpPr>
        <p:spPr>
          <a:xfrm>
            <a:off x="2575590" y="128016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9" name="Step circle 2"/>
          <p:cNvSpPr/>
          <p:nvPr/>
        </p:nvSpPr>
        <p:spPr>
          <a:xfrm>
            <a:off x="2758470" y="14630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275847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Rec title 2"/>
          <p:cNvSpPr txBox="1"/>
          <p:nvPr/>
        </p:nvSpPr>
        <p:spPr>
          <a:xfrm>
            <a:off x="275847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Engage new segments</a:t>
            </a:r>
            <a:endParaRPr lang="en-US" sz="1600" dirty="0"/>
          </a:p>
        </p:txBody>
      </p:sp>
      <p:sp>
        <p:nvSpPr>
          <p:cNvPr id="12" name="Rec desc 2"/>
          <p:cNvSpPr txBox="1"/>
          <p:nvPr/>
        </p:nvSpPr>
        <p:spPr>
          <a:xfrm>
            <a:off x="2758470" y="288036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Tailor campaigns to Young Adults and women: smaller groups with slightly higher spend.</a:t>
            </a:r>
            <a:endParaRPr lang="en-US" sz="1400" dirty="0"/>
          </a:p>
        </p:txBody>
      </p:sp>
      <p:sp>
        <p:nvSpPr>
          <p:cNvPr id="13" name="Recommendation card 3"/>
          <p:cNvSpPr/>
          <p:nvPr/>
        </p:nvSpPr>
        <p:spPr>
          <a:xfrm>
            <a:off x="4693981" y="128016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4" name="Step circle 3"/>
          <p:cNvSpPr/>
          <p:nvPr/>
        </p:nvSpPr>
        <p:spPr>
          <a:xfrm>
            <a:off x="4876861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Step number 3"/>
          <p:cNvSpPr txBox="1"/>
          <p:nvPr/>
        </p:nvSpPr>
        <p:spPr>
          <a:xfrm>
            <a:off x="4876861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Rec title 3"/>
          <p:cNvSpPr txBox="1"/>
          <p:nvPr/>
        </p:nvSpPr>
        <p:spPr>
          <a:xfrm>
            <a:off x="4876861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Lift Outerwear and Footwear</a:t>
            </a:r>
            <a:endParaRPr lang="en-US" sz="1600" dirty="0"/>
          </a:p>
        </p:txBody>
      </p:sp>
      <p:sp>
        <p:nvSpPr>
          <p:cNvPr id="17" name="Rec desc 3"/>
          <p:cNvSpPr txBox="1"/>
          <p:nvPr/>
        </p:nvSpPr>
        <p:spPr>
          <a:xfrm>
            <a:off x="4876861" y="288036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bundles with top categories; Outerwear has the lowest average purchase ($57.17).</a:t>
            </a:r>
            <a:endParaRPr lang="en-US" sz="1400" dirty="0"/>
          </a:p>
        </p:txBody>
      </p:sp>
      <p:sp>
        <p:nvSpPr>
          <p:cNvPr id="18" name="Recommendation card 4"/>
          <p:cNvSpPr/>
          <p:nvPr/>
        </p:nvSpPr>
        <p:spPr>
          <a:xfrm>
            <a:off x="6812371" y="128016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030">
                <a:alpha val="12000"/>
              </a:srgbClr>
            </a:outerShdw>
          </a:effectLst>
        </p:spPr>
      </p:sp>
      <p:sp>
        <p:nvSpPr>
          <p:cNvPr id="19" name="Step circle 4"/>
          <p:cNvSpPr/>
          <p:nvPr/>
        </p:nvSpPr>
        <p:spPr>
          <a:xfrm>
            <a:off x="6995251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Step number 4"/>
          <p:cNvSpPr txBox="1"/>
          <p:nvPr/>
        </p:nvSpPr>
        <p:spPr>
          <a:xfrm>
            <a:off x="6995251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Rec title 4"/>
          <p:cNvSpPr txBox="1"/>
          <p:nvPr/>
        </p:nvSpPr>
        <p:spPr>
          <a:xfrm>
            <a:off x="6995251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Sharpen the dashboard</a:t>
            </a:r>
            <a:endParaRPr lang="en-US" sz="1600" dirty="0"/>
          </a:p>
        </p:txBody>
      </p:sp>
      <p:sp>
        <p:nvSpPr>
          <p:cNvPr id="22" name="Rec desc 4"/>
          <p:cNvSpPr txBox="1"/>
          <p:nvPr/>
        </p:nvSpPr>
        <p:spPr>
          <a:xfrm>
            <a:off x="6995251" y="288036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 customers instead of summing IDs, and add a time trend to track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B24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 circle"/>
          <p:cNvSpPr/>
          <p:nvPr/>
        </p:nvSpPr>
        <p:spPr>
          <a:xfrm>
            <a:off x="5943600" y="640080"/>
            <a:ext cx="3383280" cy="33832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258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154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Questions and discussion</a:t>
            </a:r>
            <a:endParaRPr lang="en-US" sz="1600" dirty="0"/>
          </a:p>
        </p:txBody>
      </p:sp>
      <p:sp>
        <p:nvSpPr>
          <p:cNvPr id="5" name="Growth circle"/>
          <p:cNvSpPr/>
          <p:nvPr/>
        </p:nvSpPr>
        <p:spPr>
          <a:xfrm>
            <a:off x="6537960" y="109728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Growth icon" descr="Grow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1440180"/>
            <a:ext cx="685800" cy="685800"/>
          </a:xfrm>
          <a:prstGeom prst="rect">
            <a:avLst/>
          </a:prstGeom>
        </p:spPr>
      </p:pic>
      <p:sp>
        <p:nvSpPr>
          <p:cNvPr id="7" name="Focus circle"/>
          <p:cNvSpPr/>
          <p:nvPr/>
        </p:nvSpPr>
        <p:spPr>
          <a:xfrm>
            <a:off x="7635240" y="23774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Focus icon" descr="Foc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651760"/>
            <a:ext cx="548640" cy="548640"/>
          </a:xfrm>
          <a:prstGeom prst="rect">
            <a:avLst/>
          </a:prstGeom>
        </p:spPr>
      </p:pic>
      <p:sp>
        <p:nvSpPr>
          <p:cNvPr id="9" name="Insight circle"/>
          <p:cNvSpPr/>
          <p:nvPr/>
        </p:nvSpPr>
        <p:spPr>
          <a:xfrm>
            <a:off x="6355080" y="28346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nsight icon" descr="Ins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0632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er Insights">
  <a:themeElements>
    <a:clrScheme name="Customer Insights">
      <a:dk1>
        <a:srgbClr val="1B1030"/>
      </a:dk1>
      <a:lt1>
        <a:srgbClr val="FFFFFF"/>
      </a:lt1>
      <a:dk2>
        <a:srgbClr val="3B2457"/>
      </a:dk2>
      <a:lt2>
        <a:srgbClr val="F4F0FA"/>
      </a:lt2>
      <a:accent1>
        <a:srgbClr val="D6336C"/>
      </a:accent1>
      <a:accent2>
        <a:srgbClr val="F59F3A"/>
      </a:accent2>
      <a:accent3>
        <a:srgbClr val="0E7C7B"/>
      </a:accent3>
      <a:accent4>
        <a:srgbClr val="7C5CBF"/>
      </a:accent4>
      <a:accent5>
        <a:srgbClr val="9A8FB0"/>
      </a:accent5>
      <a:accent6>
        <a:srgbClr val="B8A9D9"/>
      </a:accent6>
      <a:hlink>
        <a:srgbClr val="7C5CBF"/>
      </a:hlink>
      <a:folHlink>
        <a:srgbClr val="9A8FB0"/>
      </a:folHlink>
    </a:clrScheme>
    <a:fontScheme name="Customer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Behaviour Dashboard</dc:title>
  <dc:subject>PptxGenJS Presentation</dc:subject>
  <dc:creator>Analytics</dc:creator>
  <cp:lastModifiedBy>Analytics</cp:lastModifiedBy>
  <cp:revision>1</cp:revision>
  <dcterms:created xsi:type="dcterms:W3CDTF">2026-10-28T19:21:15Z</dcterms:created>
  <dcterms:modified xsi:type="dcterms:W3CDTF">2026-10-28T19:21:15Z</dcterms:modified>
</cp:coreProperties>
</file>